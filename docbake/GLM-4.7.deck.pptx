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59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SPARKLEWASH · INVESTOR BRIEF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037015" y="457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77240" y="786384"/>
            <a:ext cx="10637215" cy="0"/>
          </a:xfrm>
          <a:prstGeom prst="line">
            <a:avLst/>
          </a:prstGeom>
          <a:noFill/>
          <a:ln w="12700">
            <a:solidFill>
              <a:srgbClr val="2C31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286000"/>
            <a:ext cx="106372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CEE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Premium On-Demand Car Care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106372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Redefining Vehicle Maintenance in the UAE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3977640"/>
            <a:ext cx="8935261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subscription-based, mobile-first premium car wash service for the region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5029200"/>
            <a:ext cx="10058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5102352"/>
            <a:ext cx="24535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E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$2.4B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77240" y="57424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UAE CAR CARE MARKET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05124" y="5029200"/>
            <a:ext cx="10058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5124" y="5102352"/>
            <a:ext cx="24535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E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18%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05124" y="57424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YOY GROWTH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33008" y="5029200"/>
            <a:ext cx="10058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3008" y="5102352"/>
            <a:ext cx="24535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E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2.1M+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233008" y="57424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REGISTERED VEHICLES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60891" y="5029200"/>
            <a:ext cx="10058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0891" y="5102352"/>
            <a:ext cx="24535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E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45°C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960891" y="57424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SUMMER TEMP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6400800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Coverage UAE Market 2024-2029   ·   Source: Industry Research   ·   Prepared by SparkleWash Founding Team   ·   January 2025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SparkleWash Investor Brief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1440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61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77240" y="1920240"/>
            <a:ext cx="1063721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UAE's extreme climate accelerates vehicle wear — daily washing is essential</a:t>
            </a:r>
            <a:endParaRPr lang="en-US" sz="18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car washes: time-consuming, inconsistent quality, inconvenient locations</a:t>
            </a:r>
            <a:endParaRPr lang="en-US" sz="18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segment underserved — luxury owners demand white-glove service at home/office</a:t>
            </a:r>
            <a:endParaRPr lang="en-US" sz="18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subscription model exists for recurring, scheduled premium care</a:t>
            </a:r>
            <a:endParaRPr lang="en-US" sz="18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Fragmented market with low customer retention and poor experience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SparkleWash Investor Brief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1440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61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Market Opportunity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77240" y="2377440"/>
            <a:ext cx="3301898" cy="2194560"/>
          </a:xfrm>
          <a:prstGeom prst="rect">
            <a:avLst/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pic>
        <p:nvPicPr>
          <p:cNvPr id="4" name="Image 0" descr="/tmp/claude-0/-home-user-arksai/a0af4642-2f1d-5d25-b727-dbf63bc658da/scratchpad/doc_out/GLM-4.7/charts/icon-3-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7021" y="257860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3035808"/>
            <a:ext cx="3301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161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$2.4B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68680" y="3977640"/>
            <a:ext cx="31190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ADDRESSABLE MARKET (TAM)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444898" y="2377440"/>
            <a:ext cx="3301898" cy="2194560"/>
          </a:xfrm>
          <a:prstGeom prst="rect">
            <a:avLst/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pic>
        <p:nvPicPr>
          <p:cNvPr id="8" name="Image 1" descr="/tmp/claude-0/-home-user-arksai/a0af4642-2f1d-5d25-b727-dbf63bc658da/scratchpad/doc_out/GLM-4.7/charts/icon-3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680" y="2578608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44898" y="3035808"/>
            <a:ext cx="3301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161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$720M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4536338" y="3977640"/>
            <a:ext cx="31190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SERVICEABLE ADDRESSABLE MARKET (SAM)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112557" y="2377440"/>
            <a:ext cx="3301898" cy="2194560"/>
          </a:xfrm>
          <a:prstGeom prst="rect">
            <a:avLst/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pic>
        <p:nvPicPr>
          <p:cNvPr id="12" name="Image 2" descr="/tmp/claude-0/-home-user-arksai/a0af4642-2f1d-5d25-b727-dbf63bc658da/scratchpad/doc_out/GLM-4.7/charts/icon-3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2338" y="2578608"/>
            <a:ext cx="402336" cy="402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12557" y="3035808"/>
            <a:ext cx="3301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161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$180M</a:t>
            </a:r>
            <a:endParaRPr lang="en-US" sz="3400" dirty="0"/>
          </a:p>
        </p:txBody>
      </p:sp>
      <p:sp>
        <p:nvSpPr>
          <p:cNvPr id="14" name="Text 9"/>
          <p:cNvSpPr/>
          <p:nvPr/>
        </p:nvSpPr>
        <p:spPr>
          <a:xfrm>
            <a:off x="8203997" y="3977640"/>
            <a:ext cx="31190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SERVICEABLE OBTAINABLE MARKET (SOM)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SparkleWash Investor Brief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1440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61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How SparkleWash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77240" y="1920240"/>
            <a:ext cx="504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Customers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2331720"/>
            <a:ext cx="504428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Download app, select vehicle &amp; package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 at home, office, or any location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Trained technicians arrive with eco-friendly equipment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tracking &amp; photo confirmation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billing via subscription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70168" y="1920240"/>
            <a:ext cx="504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Differentiators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70168" y="2331720"/>
            <a:ext cx="504428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eco-friendly products (pH-neutral, ceramic-infused)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Waterless &amp; low-water technology (saves 150L per wash)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Vetted, uniformed technicians with background checks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Insurance coverage for all vehicles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24/7 customer support &amp; satisfaction guarantee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SparkleWash Investor Brief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1440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Business Model &amp; Unit Economics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20240"/>
          <a:ext cx="10637215" cy="914400"/>
        </p:xfrm>
        <a:graphic>
          <a:graphicData uri="http://schemas.openxmlformats.org/drawingml/2006/table">
            <a:tbl>
              <a:tblPr/>
              <a:tblGrid>
                <a:gridCol w="2659304"/>
                <a:gridCol w="2659304"/>
                <a:gridCol w="2659304"/>
                <a:gridCol w="2659304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Package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Monthly Price (AED)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Gross Margin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LTV/CAC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Essential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299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65%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4.2x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Premium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599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72%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5.8x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Platinum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999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78%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7.1x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Fleet (B2B)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68%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6.3x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SparkleWash Investor Brief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017520"/>
            <a:ext cx="106372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CEE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Ask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77240" y="4114800"/>
            <a:ext cx="106372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AED 15M Seed Round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SparkleWash Investor Brief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SparkleWash Investor Brief</dc:title>
  <dc:subject>PptxGenJS Presentation</dc:subject>
  <dc:creator>ArksAI</dc:creator>
  <cp:lastModifiedBy>ArksAI</cp:lastModifiedBy>
  <cp:revision>1</cp:revision>
  <dcterms:created xsi:type="dcterms:W3CDTF">2026-06-30T04:10:54Z</dcterms:created>
  <dcterms:modified xsi:type="dcterms:W3CDTF">2026-06-30T04:10:54Z</dcterms:modified>
</cp:coreProperties>
</file>