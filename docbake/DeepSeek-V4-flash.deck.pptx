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59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· INVESTOR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037015" y="457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786384"/>
            <a:ext cx="10637215" cy="0"/>
          </a:xfrm>
          <a:prstGeom prst="line">
            <a:avLst/>
          </a:prstGeom>
          <a:noFill/>
          <a:ln w="12700">
            <a:solidFill>
              <a:srgbClr val="2C3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86000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Future of Car Care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953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Is On-Demand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893526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mobile car-wash subscriptions for the UAE's 3.5M luxury vehicle owners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5029200"/>
            <a:ext cx="1005840" cy="0"/>
          </a:xfrm>
          <a:prstGeom prst="line">
            <a:avLst/>
          </a:prstGeom>
          <a:noFill/>
          <a:ln w="25400">
            <a:solidFill>
              <a:srgbClr val="C99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102352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AED 2.8B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57424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UAE CAR WASH MARKET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05124" y="5029200"/>
            <a:ext cx="1005840" cy="0"/>
          </a:xfrm>
          <a:prstGeom prst="line">
            <a:avLst/>
          </a:prstGeom>
          <a:noFill/>
          <a:ln w="25400">
            <a:solidFill>
              <a:srgbClr val="C995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5124" y="5102352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3.5M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05124" y="57424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VEHICLES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3008" y="5029200"/>
            <a:ext cx="1005840" cy="0"/>
          </a:xfrm>
          <a:prstGeom prst="line">
            <a:avLst/>
          </a:prstGeom>
          <a:noFill/>
          <a:ln w="25400">
            <a:solidFill>
              <a:srgbClr val="C995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3008" y="5102352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87%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33008" y="57424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RETENTION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0891" y="5029200"/>
            <a:ext cx="1005840" cy="0"/>
          </a:xfrm>
          <a:prstGeom prst="line">
            <a:avLst/>
          </a:prstGeom>
          <a:noFill/>
          <a:ln w="25400">
            <a:solidFill>
              <a:srgbClr val="C995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0891" y="5102352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12K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960891" y="57424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Y1 SUBSCRIBERS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UAE Market   ·   Source: Industry Analysis 2025   ·   Prepared by SparkleWash Strategy   ·   Q2 2025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—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Car Care Conundrum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1063721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UAE car owners waste 4+ hours per month at traditional car washes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Peak-hour queues average 25–40 minutes per visit — a luxury no one has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subscriptions are rigid: fixed locations, fixed schedules, zero flexibility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vehicle owners demand concierge-level care, not drive-through tunnels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unified on-demand platform exists for mobile detailing across the Emirates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—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Ripe &amp; Underserved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3301898" cy="219456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pic>
        <p:nvPicPr>
          <p:cNvPr id="5" name="Image 0" descr="/tmp/claude-0/-home-user-arksai/a0af4642-2f1d-5d25-b727-dbf63bc658da/scratchpad/doc_out/DeepSeek-V4-flash/charts/icon-3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7021" y="2578608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AED 2.8B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68680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UAE CAR WASH &amp; DETAILING MARKET (2025)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44898" y="2377440"/>
            <a:ext cx="3301898" cy="219456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pic>
        <p:nvPicPr>
          <p:cNvPr id="9" name="Image 1" descr="/tmp/claude-0/-home-user-arksai/a0af4642-2f1d-5d25-b727-dbf63bc658da/scratchpad/doc_out/DeepSeek-V4-flash/charts/icon-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680" y="2578608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44898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18.4%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4536338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CAGR (2025–2030)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12557" y="2377440"/>
            <a:ext cx="3301898" cy="219456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pic>
        <p:nvPicPr>
          <p:cNvPr id="13" name="Image 2" descr="/tmp/claude-0/-home-user-arksai/a0af4642-2f1d-5d25-b727-dbf63bc658da/scratchpad/doc_out/DeepSeek-V4-flash/charts/icon-3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338" y="2578608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12557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AED 420M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8203997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SERVICEABLE ADDRESSABLE MARKET (SAM)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—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SparkleWash — How It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 Experience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504428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a wash in under 60 seconds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GPS tracking of your washer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tier: Express · Premium · Ceramic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Contactless payment &amp; digital receipts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Rate, tip &amp; rebook with one tap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70168" y="1920240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Service Delivery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70168" y="2331720"/>
            <a:ext cx="504428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equipped mobile units arrive on-site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Waterless, eco-friendly cleaning system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30-min Express Wash / 60-min Premium Detail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Trained, vetted &amp; insured technicians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Auto-scheduled weekly or bi-weekly visits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—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Unit Economics That Scale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20240"/>
          <a:ext cx="10637215" cy="914400"/>
        </p:xfrm>
        <a:graphic>
          <a:graphicData uri="http://schemas.openxmlformats.org/drawingml/2006/table">
            <a:tbl>
              <a:tblPr/>
              <a:tblGrid>
                <a:gridCol w="2127443"/>
                <a:gridCol w="2127443"/>
                <a:gridCol w="2127443"/>
                <a:gridCol w="2127443"/>
                <a:gridCol w="2127443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Package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5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Price (AED/mo)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5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COGS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5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Gross Margin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5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Target Mix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53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Express Wash (2×/week)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89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64%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55%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Premium Detail (1×/week)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499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159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68%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Ceramic Protection (monthly)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899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269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70%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Fleet / Corporate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~35%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65%+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—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 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2384984" cy="2194560"/>
          </a:xfrm>
          <a:prstGeom prst="rect">
            <a:avLst/>
          </a:prstGeom>
          <a:solidFill>
            <a:srgbClr val="1C1F25"/>
          </a:solidFill>
          <a:ln w="12700">
            <a:solidFill>
              <a:srgbClr val="1C1F25"/>
            </a:solidFill>
            <a:prstDash val="solid"/>
          </a:ln>
        </p:spPr>
      </p:sp>
      <p:pic>
        <p:nvPicPr>
          <p:cNvPr id="5" name="Image 0" descr="/tmp/claude-0/-home-user-arksai/a0af4642-2f1d-5d25-b727-dbf63bc658da/scratchpad/doc_out/DeepSeek-V4-flash/charts/icon-6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8564" y="2578608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35808"/>
            <a:ext cx="23849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AED 12M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68680" y="3977640"/>
            <a:ext cx="220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 ROUND TARGET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527984" y="2377440"/>
            <a:ext cx="2384984" cy="2194560"/>
          </a:xfrm>
          <a:prstGeom prst="rect">
            <a:avLst/>
          </a:prstGeom>
          <a:solidFill>
            <a:srgbClr val="1C1F25"/>
          </a:solidFill>
          <a:ln w="12700">
            <a:solidFill>
              <a:srgbClr val="1C1F25"/>
            </a:solidFill>
            <a:prstDash val="solid"/>
          </a:ln>
        </p:spPr>
      </p:sp>
      <p:pic>
        <p:nvPicPr>
          <p:cNvPr id="9" name="Image 1" descr="/tmp/claude-0/-home-user-arksai/a0af4642-2f1d-5d25-b727-dbf63bc658da/scratchpad/doc_out/DeepSeek-V4-flash/charts/icon-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308" y="2578608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7984" y="3035808"/>
            <a:ext cx="23849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AED 4.5M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3619424" y="3977640"/>
            <a:ext cx="220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&amp; AI ROUTING ENGINE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78728" y="2377440"/>
            <a:ext cx="2384984" cy="2194560"/>
          </a:xfrm>
          <a:prstGeom prst="rect">
            <a:avLst/>
          </a:prstGeom>
          <a:solidFill>
            <a:srgbClr val="1C1F25"/>
          </a:solidFill>
          <a:ln w="12700">
            <a:solidFill>
              <a:srgbClr val="1C1F25"/>
            </a:solidFill>
            <a:prstDash val="solid"/>
          </a:ln>
        </p:spPr>
      </p:sp>
      <p:pic>
        <p:nvPicPr>
          <p:cNvPr id="13" name="Image 2" descr="/tmp/claude-0/-home-user-arksai/a0af4642-2f1d-5d25-b727-dbf63bc658da/scratchpad/doc_out/DeepSeek-V4-flash/charts/icon-6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052" y="2578608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78728" y="3035808"/>
            <a:ext cx="23849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AED 3.5M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6370168" y="3977640"/>
            <a:ext cx="220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FLEET OF 50 MOBILE UNITS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029471" y="2377440"/>
            <a:ext cx="2384984" cy="2194560"/>
          </a:xfrm>
          <a:prstGeom prst="rect">
            <a:avLst/>
          </a:prstGeom>
          <a:solidFill>
            <a:srgbClr val="1C1F25"/>
          </a:solidFill>
          <a:ln w="12700">
            <a:solidFill>
              <a:srgbClr val="1C1F25"/>
            </a:solidFill>
            <a:prstDash val="solid"/>
          </a:ln>
        </p:spPr>
      </p:sp>
      <p:pic>
        <p:nvPicPr>
          <p:cNvPr id="17" name="Image 3" descr="/tmp/claude-0/-home-user-arksai/a0af4642-2f1d-5d25-b727-dbf63bc658da/scratchpad/doc_out/DeepSeek-V4-flash/charts/icon-6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795" y="2578608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29471" y="3035808"/>
            <a:ext cx="23849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AED 2.5M</a:t>
            </a:r>
            <a:endParaRPr lang="en-US" sz="3400" dirty="0"/>
          </a:p>
        </p:txBody>
      </p:sp>
      <p:sp>
        <p:nvSpPr>
          <p:cNvPr id="19" name="Text 13"/>
          <p:cNvSpPr/>
          <p:nvPr/>
        </p:nvSpPr>
        <p:spPr>
          <a:xfrm>
            <a:off x="9120911" y="3977640"/>
            <a:ext cx="220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&amp; CUSTOMER ACQUISITION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— Investor Brief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SparkleWash — Investor Brief</dc:title>
  <dc:subject>PptxGenJS Presentation</dc:subject>
  <dc:creator>ArksAI</dc:creator>
  <cp:lastModifiedBy>ArksAI</cp:lastModifiedBy>
  <cp:revision>1</cp:revision>
  <dcterms:created xsi:type="dcterms:W3CDTF">2026-06-30T04:09:15Z</dcterms:created>
  <dcterms:modified xsi:type="dcterms:W3CDTF">2026-06-30T04:09:15Z</dcterms:modified>
</cp:coreProperties>
</file>