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59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037015" y="457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786384"/>
            <a:ext cx="10637215" cy="0"/>
          </a:xfrm>
          <a:prstGeom prst="line">
            <a:avLst/>
          </a:prstGeom>
          <a:noFill/>
          <a:ln w="12700">
            <a:solidFill>
              <a:srgbClr val="2C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SparkleWash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Premium Car Care, On Demand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893526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UAE's first subscription-first mobile car-wash platform for the luxury vehicle market.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4.2B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CARE TAM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5124" y="502920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124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5124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502920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12,000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33008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SUBS (Y3)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0891" y="502920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0891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3.8×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60891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LTV:CAC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FY2026–2028   ·   Source: SparkleWash Financial Model v2.1   ·   Prepared by Strategy &amp; Corp Dev   ·   June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372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2.4M passenger vehicles in the UAE — yet 90% of car washes are still station-based, requiring 45+ minute detours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heat, humidity, and dust mean premium vehicles need washing 2–3× per week, not once a month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mobile wash services are fragmented, unbranded, and wildly inconsistent in quality and reliability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and exotic cars (35% of Dubai's fleet) demand water-efficient, scratch-free care owners can actually trust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 model exists — forcing customers to rebook, repay, and re-explain preferences every single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4" name="Image 0" descr="/tmp/claude-0/-home-user-arksai/a0af4642-2f1d-5d25-b727-dbf63bc658da/scratchpad/doc_out/DeepSeek-V4-pro/charts/icon-3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4.2B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CARE TAM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8" name="Image 1" descr="/tmp/claude-0/-home-user-arksai/a0af4642-2f1d-5d25-b727-dbf63bc658da/scratchpad/doc_out/DeepSeek-V4-pro/charts/icon-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1.1B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PREMIUM SAM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12" name="Image 2" descr="/tmp/claude-0/-home-user-arksai/a0af4642-2f1d-5d25-b727-dbf63bc658da/scratchpad/doc_out/DeepSeek-V4-pro/charts/icon-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22% CAGR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WASH SEGMENT GROWTH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SparkleWash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in 60 seconds via app — choose time, location &amp; package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detailers arrive in branded electric vans with water-recycling tech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Eco-friendly, waterless or low-water premium products only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GPS tracking, before/after photos, and 5-star rating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70168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— 4 washes/mo at AED 199/mo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— 8 washes/mo + interior detail at AED 349/mo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Elite — 12 washes/mo + full detail + ceramic boost at AED 549/mo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plans: skip, pause, or cancel anytime. No lock-in contracts.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Unit Economics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1772869"/>
                <a:gridCol w="1772869"/>
                <a:gridCol w="1772869"/>
                <a:gridCol w="1772869"/>
                <a:gridCol w="1772869"/>
                <a:gridCol w="177286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Package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Price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COGS / Wash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Washes / 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Margin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LTV (24 mo)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199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2,150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349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3,770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549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18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5,930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Blended Average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366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57%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3,950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4" name="Image 0" descr="/tmp/claude-0/-home-user-arksai/a0af4642-2f1d-5d25-b727-dbf63bc658da/scratchpad/doc_out/DeepSeek-V4-pro/charts/icon-6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12M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 TARGET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8" name="Image 1" descr="/tmp/claude-0/-home-user-arksai/a0af4642-2f1d-5d25-b727-dbf63bc658da/scratchpad/doc_out/DeepSeek-V4-pro/charts/icon-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DXB + AUH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LAUNCH CITIES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12" name="Image 2" descr="/tmp/claude-0/-home-user-arksai/a0af4642-2f1d-5d25-b727-dbf63bc658da/scratchpad/doc_out/DeepSeek-V4-pro/charts/icon-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 Months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RUNWAY TO SERIES 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SparkleWash · Investor Brief</dc:title>
  <dc:subject>PptxGenJS Presentation</dc:subject>
  <dc:creator>ArksAI</dc:creator>
  <cp:lastModifiedBy>ArksAI</cp:lastModifiedBy>
  <cp:revision>1</cp:revision>
  <dcterms:created xsi:type="dcterms:W3CDTF">2026-06-30T04:16:50Z</dcterms:created>
  <dcterms:modified xsi:type="dcterms:W3CDTF">2026-06-30T04:16:50Z</dcterms:modified>
</cp:coreProperties>
</file>