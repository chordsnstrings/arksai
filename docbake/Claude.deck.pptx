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8259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· INVESTOR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037015" y="457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7240" y="786384"/>
            <a:ext cx="10637215" cy="0"/>
          </a:xfrm>
          <a:prstGeom prst="line">
            <a:avLst/>
          </a:prstGeom>
          <a:noFill/>
          <a:ln w="12700">
            <a:solidFill>
              <a:srgbClr val="2C3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8600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Your car, washed where it sits.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1063721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6F5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Premium on-demand car care, on subscription.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8935261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turn a sporadic AED-38 wash into predictable monthly revenue across the UAE's 4.2m vehicles.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5029200"/>
            <a:ext cx="1005840" cy="0"/>
          </a:xfrm>
          <a:prstGeom prst="line">
            <a:avLst/>
          </a:prstGeom>
          <a:noFill/>
          <a:ln w="25400">
            <a:solidFill>
              <a:srgbClr val="1F6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$435M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77240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UAE CAR-CARE TAM, 2025E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05124" y="5029200"/>
            <a:ext cx="1005840" cy="0"/>
          </a:xfrm>
          <a:prstGeom prst="line">
            <a:avLst/>
          </a:prstGeom>
          <a:noFill/>
          <a:ln w="25400">
            <a:solidFill>
              <a:srgbClr val="1F6F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5124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21%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05124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SEGMENT CAGR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3008" y="5029200"/>
            <a:ext cx="1005840" cy="0"/>
          </a:xfrm>
          <a:prstGeom prst="line">
            <a:avLst/>
          </a:prstGeom>
          <a:noFill/>
          <a:ln w="25400">
            <a:solidFill>
              <a:srgbClr val="1F6F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3008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AED 99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233008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MONTHLY PLAN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60891" y="5029200"/>
            <a:ext cx="1005840" cy="0"/>
          </a:xfrm>
          <a:prstGeom prst="line">
            <a:avLst/>
          </a:prstGeom>
          <a:noFill/>
          <a:ln w="25400">
            <a:solidFill>
              <a:srgbClr val="1F6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0891" y="5102352"/>
            <a:ext cx="24535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&lt;6%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960891" y="57424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LARGEST INCUMBENT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 United Arab Emirates   ·   Source: Arks Intelligence · Auto-Care   ·   Prepared by SparkleWash Capital Team   ·   June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10637215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Drivers waste 30–45 minutes queuing at bays in 45°C heat for a basic wash.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is wildly inconsistent — informal, cash-only, no accountability.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Dust, salt and sun degrade paint fast, but protection feels out of reach and overpriced.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Operators chase one-off transactions; no one owns the recurring relationship.</a:t>
            </a:r>
            <a:endParaRPr lang="en-US" sz="1800" dirty="0"/>
          </a:p>
          <a:p>
            <a:pPr marL="228600" indent="-2286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options exist but are unreliable, unbranded and hard to book.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large, premiumising market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4" name="Image 0" descr="/tmp/claude-0/-home-user-arksai/a0af4642-2f1d-5d25-b727-dbf63bc658da/scratchpad/doc_out/Claude/charts/icon-3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7021" y="257860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$435M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68680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UAE WASH &amp; DETAILING MARKET, 2025E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44898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8" name="Image 1" descr="/tmp/claude-0/-home-user-arksai/a0af4642-2f1d-5d25-b727-dbf63bc658da/scratchpad/doc_out/Claude/charts/icon-3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680" y="25786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44898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7.4%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536338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MARKET CAGR TO 2030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112557" y="2377440"/>
            <a:ext cx="3301898" cy="2194560"/>
          </a:xfrm>
          <a:prstGeom prst="rect">
            <a:avLst/>
          </a:prstGeom>
          <a:solidFill>
            <a:srgbClr val="F7F7F5"/>
          </a:solidFill>
          <a:ln w="12700">
            <a:solidFill>
              <a:srgbClr val="F7F7F5"/>
            </a:solidFill>
            <a:prstDash val="solid"/>
          </a:ln>
        </p:spPr>
      </p:sp>
      <p:pic>
        <p:nvPicPr>
          <p:cNvPr id="12" name="Image 2" descr="/tmp/claude-0/-home-user-arksai/a0af4642-2f1d-5d25-b727-dbf63bc658da/scratchpad/doc_out/Claude/charts/icon-3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338" y="25786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2557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4.2M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8203997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VEHICLES IN THE UAE PARC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How SparkleWash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1920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the member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50442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a plan and a parking spot in the app — home, office or mall.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vetted, kitted technician arrives in a scheduled window.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Waterless &amp; eco-rinse methods; live photos on completion.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Unlimited or capped washes, pause or cancel anytime.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1920240"/>
            <a:ext cx="5044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Behind the scenes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70168" y="2331720"/>
            <a:ext cx="5044288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Route-optimised dispatch clusters jobs to cut drive time.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Standardised SOPs and ratings keep quality consistent.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Detailing &amp; ceramic upsells attach to high-frequency members.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16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Asset-light: no land, no fixed bays — vans and people only.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61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Plans &amp; unit economics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920240"/>
          <a:ext cx="10637215" cy="914400"/>
        </p:xfrm>
        <a:graphic>
          <a:graphicData uri="http://schemas.openxmlformats.org/drawingml/2006/table">
            <a:tbl>
              <a:tblPr/>
              <a:tblGrid>
                <a:gridCol w="2659304"/>
                <a:gridCol w="2659304"/>
                <a:gridCol w="2659304"/>
                <a:gridCol w="2659304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Package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Price / mo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Washes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Gross margin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Essential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44%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Plus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179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47%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Unlimited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299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Unlimited*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46%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Protect add-on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AED 149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Ceramic / PPF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4161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52%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6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ask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377440"/>
            <a:ext cx="3301898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4" name="Image 0" descr="/tmp/claude-0/-home-user-arksai/a0af4642-2f1d-5d25-b727-dbf63bc658da/scratchpad/doc_out/Claude/charts/icon-6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7021" y="2578608"/>
            <a:ext cx="402336" cy="402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40%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68680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FLEET &amp; TECHNICIAN NETWORK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44898" y="2377440"/>
            <a:ext cx="3301898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8" name="Image 1" descr="/tmp/claude-0/-home-user-arksai/a0af4642-2f1d-5d25-b727-dbf63bc658da/scratchpad/doc_out/Claude/charts/icon-6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680" y="2578608"/>
            <a:ext cx="402336" cy="4023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44898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35%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4536338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PRODUCT, APP &amp; DISPATCH ENGINE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112557" y="2377440"/>
            <a:ext cx="3301898" cy="2194560"/>
          </a:xfrm>
          <a:prstGeom prst="rect">
            <a:avLst/>
          </a:prstGeom>
          <a:solidFill>
            <a:srgbClr val="1C1F25"/>
          </a:solidFill>
          <a:ln w="12700">
            <a:solidFill>
              <a:srgbClr val="1C1F25"/>
            </a:solidFill>
            <a:prstDash val="solid"/>
          </a:ln>
        </p:spPr>
      </p:sp>
      <p:pic>
        <p:nvPicPr>
          <p:cNvPr id="12" name="Image 2" descr="/tmp/claude-0/-home-user-arksai/a0af4642-2f1d-5d25-b727-dbf63bc658da/scratchpad/doc_out/Claude/charts/icon-6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338" y="257860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2557" y="3035808"/>
            <a:ext cx="33018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CEEF2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25%</a:t>
            </a:r>
            <a:endParaRPr lang="en-US" sz="3400" dirty="0"/>
          </a:p>
        </p:txBody>
      </p:sp>
      <p:sp>
        <p:nvSpPr>
          <p:cNvPr id="14" name="Text 9"/>
          <p:cNvSpPr/>
          <p:nvPr/>
        </p:nvSpPr>
        <p:spPr>
          <a:xfrm>
            <a:off x="8203997" y="3977640"/>
            <a:ext cx="311901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&amp; MEMBER ACQUISITION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77240" y="6446520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AA1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SparkleWash — Investor Brief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SparkleWash — Investor Brief</dc:title>
  <dc:subject>PptxGenJS Presentation</dc:subject>
  <dc:creator>ArksAI</dc:creator>
  <cp:lastModifiedBy>ArksAI</cp:lastModifiedBy>
  <cp:revision>1</cp:revision>
  <dcterms:created xsi:type="dcterms:W3CDTF">2026-06-30T04:17:25Z</dcterms:created>
  <dcterms:modified xsi:type="dcterms:W3CDTF">2026-06-30T04:17:25Z</dcterms:modified>
</cp:coreProperties>
</file>